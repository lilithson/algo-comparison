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" y="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BDD7EE"/>
                </a:solidFill>
                <a:latin typeface="Calibri"/>
              </a:rPr>
              <a:t>ALGORITHMS II  —  END-OF-TERM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Shortest-Path Queries on Weighted Graphs</a:t>
            </a:r>
          </a:p>
          <a:p>
            <a:r>
              <a:rPr sz="2600" b="0" i="0">
                <a:solidFill>
                  <a:srgbClr val="DEEBF7"/>
                </a:solidFill>
                <a:latin typeface="Calibri"/>
              </a:rPr>
              <a:t>Comparative Algorithm Design and 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BDD7EE"/>
                </a:solidFill>
                <a:latin typeface="Calibri"/>
              </a:rPr>
              <a:t>Four algorithmic approaches  •  three graph representations  •  theory + experiment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9DC3E6"/>
                </a:solidFill>
                <a:latin typeface="Calibri"/>
              </a:rPr>
              <a:t>Project Group: </a:t>
            </a:r>
            <a:r>
              <a:rPr lang="en-US" sz="1600" dirty="0">
                <a:solidFill>
                  <a:srgbClr val="9DC3E6"/>
                </a:solidFill>
                <a:latin typeface="Calibri"/>
              </a:rPr>
              <a:t>Berfin </a:t>
            </a:r>
            <a:r>
              <a:rPr lang="en-US" sz="1600" dirty="0" err="1">
                <a:solidFill>
                  <a:srgbClr val="9DC3E6"/>
                </a:solidFill>
                <a:latin typeface="Calibri"/>
              </a:rPr>
              <a:t>Güneri</a:t>
            </a:r>
            <a:r>
              <a:rPr lang="en-US" sz="1600" dirty="0">
                <a:solidFill>
                  <a:srgbClr val="9DC3E6"/>
                </a:solidFill>
                <a:latin typeface="Calibri"/>
              </a:rPr>
              <a:t> – Murat Emre Öztürk – Berkay </a:t>
            </a:r>
            <a:r>
              <a:rPr lang="en-US" sz="1600" dirty="0" err="1">
                <a:solidFill>
                  <a:srgbClr val="9DC3E6"/>
                </a:solidFill>
                <a:latin typeface="Calibri"/>
              </a:rPr>
              <a:t>Bıyık</a:t>
            </a:r>
            <a:r>
              <a:rPr lang="en-US" sz="1600" dirty="0">
                <a:solidFill>
                  <a:srgbClr val="9DC3E6"/>
                </a:solidFill>
                <a:latin typeface="Calibri"/>
              </a:rPr>
              <a:t> – Faruk Emre Afşar      </a:t>
            </a:r>
            <a:r>
              <a:rPr sz="1600" b="0" i="0" dirty="0">
                <a:solidFill>
                  <a:srgbClr val="9DC3E6"/>
                </a:solidFill>
                <a:latin typeface="Calibri"/>
              </a:rPr>
              <a:t>|      Spring Semester 2025–2026</a:t>
            </a:r>
          </a:p>
          <a:p>
            <a:pPr>
              <a:spcAft>
                <a:spcPts val="800"/>
              </a:spcAft>
            </a:pPr>
            <a:r>
              <a:rPr sz="1300" b="0" i="0" dirty="0">
                <a:solidFill>
                  <a:srgbClr val="7FA8C9"/>
                </a:solidFill>
                <a:latin typeface="Calibri"/>
              </a:rPr>
              <a:t>Results: profile "full", seed 20252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The Problem: Shortest-Path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Given: a weighted directed graph G = (V, E) and weights w: E → ℝ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Wanted: the minimum total-weight path between two nodes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2E75B6"/>
                </a:solidFill>
                <a:latin typeface="Calibri"/>
              </a:rPr>
              <a:t>–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Single-source (SSSP): from one source to all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2E75B6"/>
                </a:solidFill>
                <a:latin typeface="Calibri"/>
              </a:rPr>
              <a:t>–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All-pairs (APSP): between every pair of nodes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The goal is NOT merely to find the correct answer —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2E75B6"/>
                </a:solidFill>
                <a:latin typeface="Calibri"/>
              </a:rPr>
              <a:t>–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but to solve the same problem with different algorithmic decisions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2E75B6"/>
                </a:solidFill>
                <a:latin typeface="Calibri"/>
              </a:rPr>
              <a:t>–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and to understand the performance / scaling / memory effects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"Query" = the cost of running from one source given a built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1554480"/>
            <a:ext cx="4023360" cy="329184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There is no single "best algorithm."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 right choice depends on input size, density, query count, and the sign of the weights.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This presentation shows that decision with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Four Approaches — The Design Space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Philosophy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+ Binary Heap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Adjacency list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On-demand, time-optimized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+ Array Scan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Adjacency matrix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Dense-graph-optimized, simple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Bellman-Ford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Edge list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Generality: negative weights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Floyd-Warshall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Adjacency matrix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Heavy preprocessing, O(1) query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All three graph representations + four distinct strategies are covered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Meaningful pairwise comparisons: 1—2 (same algorithm, different data structure) · 1—3 (different strategy) · 1—4 (on-demand vs. preprocessing)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A natural split for a four-member group: one approach per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Graph Representations — A Decision Independent of 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Edge list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— O(E) memory; "iterate over all edges" is natural (Bellman-Ford)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Adjacency list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— O(V+E); "the neighbors of u" is fast (Dijkstra-Heap)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Adjacency matrix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— O(V²); O(1) edge query, vectorizes (Dijkstra-Array, Floyd-Warshall)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The representation choice determines both memory and the cost of the fundamental operation</a:t>
            </a:r>
          </a:p>
        </p:txBody>
      </p:sp>
      <p:pic>
        <p:nvPicPr>
          <p:cNvPr id="5" name="Picture 4" descr="D_memory_represen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524" y="1371600"/>
            <a:ext cx="6335671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94960" y="5212080"/>
            <a:ext cx="6400800" cy="109728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 adjacency matrix grows as O(V²): on large sparse graphs, matrix-based approaches DO NOT FIT in memory (Experiment 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Approach 1: Dijkstra + Binary Heap + Adjacency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Greedy: at each step pick the not-yet-finalized node closest to the source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The binary heap answers the "minimum" query in O(log V)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"Lazy deletion": an improved node is re-pushed onto the heap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Early stopping: stop when the target is reached (speeds up single-pair queries)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554480"/>
            <a:ext cx="39319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tlCol="0" anchor="ctr"/>
          <a:lstStyle/>
          <a:p>
            <a:pPr algn="ctr"/>
            <a:r>
              <a:rPr sz="1700" b="1" i="0">
                <a:solidFill>
                  <a:srgbClr val="1F4E79"/>
                </a:solidFill>
                <a:latin typeface="Calibri"/>
              </a:rPr>
              <a:t>Complexity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Time: O((V + E) log V)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Memory: O(V + E)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On a sparse graph ≈ O(V log 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0690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Calibri"/>
              </a:rPr>
              <a:t>Philosophy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On-demand, time-optimized. With negative edges the greedy assumption breaks → it becomes incorrect.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Approach 2: Dijkstra + Array Scan + Adjacency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The same greedy strategy, but with NO priority queue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At each step the min node is found by a linear scan of the array, O(V)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Relaxation is done over a row of the adjacency matrix, O(V)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The cost is entirely independent of the number of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554480"/>
            <a:ext cx="39319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tlCol="0" anchor="ctr"/>
          <a:lstStyle/>
          <a:p>
            <a:pPr algn="ctr"/>
            <a:r>
              <a:rPr sz="1700" b="1" i="0">
                <a:solidFill>
                  <a:srgbClr val="1F4E79"/>
                </a:solidFill>
                <a:latin typeface="Calibri"/>
              </a:rPr>
              <a:t>Complexity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Time: O(V²)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Memory: O(V²)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On a dense graph O(V²) ≤ O(E log 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0690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Calibri"/>
              </a:rPr>
              <a:t>Philosophy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Structural simplicity, dense-graph-optimized. On large sparse graphs O(V²) memory → infeasible.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Approach 3: Bellman-Ford + Edge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No greedy assumption needed: relax all edges for V−1 passes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Works CORRECTLY with negative weights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If one extra pass still relaxes → negative cycle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Early stopping: stop if nothing changes (much faster in practice)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554480"/>
            <a:ext cx="39319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tlCol="0" anchor="ctr"/>
          <a:lstStyle/>
          <a:p>
            <a:pPr algn="ctr"/>
            <a:r>
              <a:rPr sz="1700" b="1" i="0">
                <a:solidFill>
                  <a:srgbClr val="1F4E79"/>
                </a:solidFill>
                <a:latin typeface="Calibri"/>
              </a:rPr>
              <a:t>Complexity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Time: O(V · E)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Memory: O(V + E)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Worst case is worse than Dijkstra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0690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Calibri"/>
              </a:rPr>
              <a:t>Philosophy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Generality — correctness before speed. Solves what Dijkstra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Approach 4: Floyd-Warshall + Adjacency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Shortest paths between all node pairs (APSP)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Dynamic programming: for each intermediate node k, all (i,j) are updated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After preprocessing, each query is an O(1) matrix lookup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Detects a negative cycle as a negative value on the diagonal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554480"/>
            <a:ext cx="39319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tlCol="0" anchor="ctr"/>
          <a:lstStyle/>
          <a:p>
            <a:pPr algn="ctr"/>
            <a:r>
              <a:rPr sz="1700" b="1" i="0">
                <a:solidFill>
                  <a:srgbClr val="1F4E79"/>
                </a:solidFill>
                <a:latin typeface="Calibri"/>
              </a:rPr>
              <a:t>Complexity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Preprocessing: O(V³)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Query: O(1)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62626"/>
                </a:solidFill>
                <a:latin typeface="Calibri"/>
              </a:rPr>
              <a:t>Memory: O(V²)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0690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Calibri"/>
              </a:rPr>
              <a:t>Philosophy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Heavy preprocessing, ~free queries. Wasteful for a single query, ideal for many.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Algorithms at Work — Visual Simulation</a:t>
            </a:r>
          </a:p>
        </p:txBody>
      </p:sp>
      <p:pic>
        <p:nvPicPr>
          <p:cNvPr id="4" name="Picture 3" descr="F_exploration_snap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17" y="1325880"/>
            <a:ext cx="7172085" cy="3154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4617720"/>
            <a:ext cx="10881360" cy="178308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 (top): the blue region grows in order of distance; it works only on the thin orange "frontier"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Bellman-Ford (bottom): each pass relaxes all edges INDISCRIMINATELY; the distance field spreads like a wave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Both find the same path (red) — the difference is IN THE WORK DONE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 full animations (GIF) are in the results/animations/ folder; can be played live during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Theoretical Complexity —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Negative weights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+ Binary Heap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O((V+E) log V)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O(V+E)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+ Array Scan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O(V²)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O(V²)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Bellman-Ford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 · E)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O(V+E)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Yes (+ cycle)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Floyd-Warshall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O(V³)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O(1) lookup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O(V²)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Yes (+ cycle)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4526280"/>
            <a:ext cx="10881360" cy="155448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Dijkstra-Heap scales best on sparse graphs · Dijkstra-Array wins on dense graphs (O(V²) ≤ O(E log V))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Floyd-Warshall: terrible for a single query, ideal for many — the preprocessing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Experiment A — Scaling with the Number of Nodes</a:t>
            </a:r>
          </a:p>
        </p:txBody>
      </p:sp>
      <p:pic>
        <p:nvPicPr>
          <p:cNvPr id="4" name="Picture 3" descr="A_scaling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7026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463040"/>
            <a:ext cx="3794760" cy="484632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 curve ordering exactly confirms the theoretical complexity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At V = 1600, Floyd-Warshall is ~5,610× slower than Dijkstra-Heap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With O(V³), Floyd-Warshall becomes "infeasible" earliest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Dijkstra-Heap is the best-scaling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Experiment B — The Effect of Edge Density</a:t>
            </a:r>
          </a:p>
        </p:txBody>
      </p:sp>
      <p:pic>
        <p:nvPicPr>
          <p:cNvPr id="4" name="Picture 3" descr="B_density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463040"/>
            <a:ext cx="3794760" cy="484632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Dijkstra-Array and Floyd-Warshall: time is flat (independent of density)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Dijkstra-Heap and Bellman-Ford: rise with density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At the sparse end Dijkstra-Heap leads; as it gets denser Dijkstra-Array overtakes it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 "best algorithm" depends on the graph's 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Experiment C — Preprocessing / Query-Count Trade-off</a:t>
            </a:r>
          </a:p>
        </p:txBody>
      </p:sp>
      <p:pic>
        <p:nvPicPr>
          <p:cNvPr id="4" name="Picture 3" descr="C_many_qu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58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463040"/>
            <a:ext cx="3794760" cy="484632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Dijkstra: pays from scratch on every query (directly proportional)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Floyd-Warshall: high fixed preprocessing, ~free queries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Break-even point: Q* ≈ 2330 queries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Heavy preprocessing makes sense only in the many-query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Experiment D — Real Road Network (DIMACS New York)</a:t>
            </a:r>
          </a:p>
        </p:txBody>
      </p:sp>
      <p:pic>
        <p:nvPicPr>
          <p:cNvPr id="4" name="Picture 3" descr="E_real_road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185" y="1325880"/>
            <a:ext cx="7601149" cy="3154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4617720"/>
            <a:ext cx="10881360" cy="178308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264,346 nodes, 733,846 arcs — real road distances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Dijkstra-Heap answers an SSSP over the whole network in 802.8 ms, with 13 MB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Adjacency matrix ~559 GB → Dijkstra-Array and Floyd-Warshall INFEASIBLE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 representation choice can by itself determine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Comparing Theory with Experiment</a:t>
            </a:r>
          </a:p>
        </p:txBody>
      </p:sp>
      <p:pic>
        <p:nvPicPr>
          <p:cNvPr id="4" name="Picture 3" descr="A_scaling_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7026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463040"/>
            <a:ext cx="3794760" cy="484632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Operation-count (relaxation) exponents match theory EXACTLY: 2.00 / 3.00 / ≈1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Hardware- and language-independent verification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Time exponents deviate: NumPy overhead (small V) and memory bandwidth (large V²)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Theory gives the ordering; hardware constants shape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Which Approach, When?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Recommended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R="73152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Large, sparse graph; few queries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+ Binary Heap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O((V+E) log V), low memory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Small/medium, very dense graph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+ Array Scan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O(V²) ≤ O(E log V)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Many queries; the graph is fixed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Floyd-Warshall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O(V³) preprocessing amortizes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Negative weights / cycle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Bellman-Ford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Dijkstra becomes incorrect; correctness is essential</a:t>
                      </a:r>
                    </a:p>
                  </a:txBody>
                  <a:tcPr marR="73152" marT="36576" marB="36576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Unweighted graph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BFS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O(V+E); weighted ones are needlessly expensive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Trade-offs: preprocessing vs. query · memory vs. access speed · speed vs. generality · theory vs. empirical constants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All four approaches verified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(cross-checks, hand examples, path reconstruction)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General-purpose, scalable option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Dijkstra + Binary Heap — the only practical option on the 264-thousand-node real road network (802.8 ms/query)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The "best" depends on the input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Dijkstra-Array if dense, Floyd-Warshall if many queries, Bellman-Ford if negative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The representation choice is decisive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O(V²) memory makes matrix-based approaches infeasible on large sparse graphs (~559 GB)</a:t>
            </a:r>
          </a:p>
          <a:p>
            <a:pPr>
              <a:spcAft>
                <a:spcPts val="7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62626"/>
                </a:solidFill>
                <a:latin typeface="Calibri"/>
              </a:rPr>
              <a:t>Theory vs. experiment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 operation-count exponents match theory exactly; time exponents are shaped by constant factors/hardware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40680"/>
            <a:ext cx="10972800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Takeaway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262626"/>
                </a:solidFill>
                <a:latin typeface="Calibri"/>
              </a:rPr>
              <a:t>•  Complexity analysis gives the DIRECTION of the decision; experimental measurement gives the CONSTANTS, the crossover points, and the feasibility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06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/>
            <a:r>
              <a:rPr sz="2400" b="0" i="0">
                <a:solidFill>
                  <a:srgbClr val="DEEBF7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1615</Words>
  <Application>Microsoft Office PowerPoint</Application>
  <PresentationFormat>Widescreen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Faruk Emre Afşar</cp:lastModifiedBy>
  <cp:revision>2</cp:revision>
  <dcterms:created xsi:type="dcterms:W3CDTF">2013-01-27T09:14:16Z</dcterms:created>
  <dcterms:modified xsi:type="dcterms:W3CDTF">2026-05-15T10:04:15Z</dcterms:modified>
  <cp:category/>
</cp:coreProperties>
</file>